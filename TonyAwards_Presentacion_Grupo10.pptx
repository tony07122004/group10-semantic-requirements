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Play" panose="02010600030101010101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Buenos días. Somos el Grupo 10 y presentamos Tony Awards Semantic Resource. El proyecto consiste en crear un recurso semántico interoperable para representar información de ganadores de los Tony Awards.</a:t>
            </a:r>
            <a:endParaRPr/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diapositiva sirve para presentar el reparto. Cada persona habla aproximadamente entre dos minutos y medio y tres minutos.</a:t>
            </a:r>
            <a:endParaRPr/>
          </a:p>
        </p:txBody>
      </p:sp>
      <p:sp>
        <p:nvSpPr>
          <p:cNvPr id="22" name="Google Shape;2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objetivo es transformar información tabular sobre los Tony Awards en un recurso semántico. Explicamos que el proyecto incluye ontología, datos RDF y validación SHACL.</a:t>
            </a:r>
            <a:endParaRPr/>
          </a:p>
        </p:txBody>
      </p:sp>
      <p:sp>
        <p:nvSpPr>
          <p:cNvPr id="44" name="Google Shape;4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Aquí explicamos los campos del dataset original y los requisitos. Lo importante es que cada registro combina varios elementos, por eso necesitamos una representación más expresiva que una tabla.</a:t>
            </a:r>
            <a:endParaRPr/>
          </a:p>
        </p:txBody>
      </p:sp>
      <p:sp>
        <p:nvSpPr>
          <p:cNvPr id="72" name="Google Shape;7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idea central es la relación n-aria. AwardWinning se coloca en el centro para conectar todos los elementos de un registro de premio.</a:t>
            </a:r>
            <a:endParaRPr/>
          </a:p>
        </p:txBody>
      </p:sp>
      <p:sp>
        <p:nvSpPr>
          <p:cNvPr id="127" name="Google Shape;12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esta parte explicamos que no se inventó todo desde cero. Se reutilizaron vocabularios estándar para personas, obras, etiquetas y metadatos.</a:t>
            </a:r>
            <a:endParaRPr/>
          </a:p>
        </p:txBody>
      </p:sp>
      <p:sp>
        <p:nvSpPr>
          <p:cNvPr id="96" name="Google Shape;9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esta diapositiva se resumen los números de la ontología: clases, propiedades y serializaciones. También se explican las propiedades principales.</a:t>
            </a:r>
            <a:endParaRPr/>
          </a:p>
        </p:txBody>
      </p:sp>
      <p:sp>
        <p:nvSpPr>
          <p:cNvPr id="139" name="Google Shape;13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Knowledge Graph está en data/tony_awards_data.ttl. Se enseña un ejemplo de cómo se representa un registro RDF con ganador, obra, categoría, género, año e identificador.</a:t>
            </a:r>
            <a:endParaRPr/>
          </a:p>
        </p:txBody>
      </p:sp>
      <p:sp>
        <p:nvSpPr>
          <p:cNvPr id="163" name="Google Shape;16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validación SHACL comprueba que los datos cumplen las reglas. El resultado final es Conforms True, por tanto el RDF final es válido según las shapes definidas.</a:t>
            </a:r>
            <a:endParaRPr/>
          </a:p>
        </p:txBody>
      </p:sp>
      <p:sp>
        <p:nvSpPr>
          <p:cNvPr id="195" name="Google Shape;19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OOPS se utilizó para detectar pitfalls y mejorar la ontología. Después de corregir disjointness, inversas y elementos desconectados, el resultado final no muestra pitfalls. FOOPS obtuvo un 97 por ciento.</a:t>
            </a:r>
            <a:endParaRPr/>
          </a:p>
        </p:txBody>
      </p:sp>
      <p:sp>
        <p:nvSpPr>
          <p:cNvPr id="222" name="Google Shape;222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explica el estado de W3ID y el mapping con Grupo 9. La idea es que ambos dominios comparten personas, obras, premios, categorías y género, pero no basta con cambiar los namespaces para adaptar SHACL.</a:t>
            </a:r>
            <a:endParaRPr/>
          </a:p>
        </p:txBody>
      </p:sp>
      <p:sp>
        <p:nvSpPr>
          <p:cNvPr id="255" name="Google Shape;255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cerrar, se resumen los entregables y se indican las mejoras futuras. Terminar con: En resumen, nuestro proyecto proporciona un recurso semántico interoperable para representar registros de ganadores de los Tony Awards. Muchas gracias.</a:t>
            </a:r>
            <a:endParaRPr/>
          </a:p>
        </p:txBody>
      </p:sp>
      <p:sp>
        <p:nvSpPr>
          <p:cNvPr id="292" name="Google Shape;29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411480" y="658368"/>
            <a:ext cx="73152" cy="5257800"/>
          </a:xfrm>
          <a:prstGeom prst="rect">
            <a:avLst/>
          </a:prstGeom>
          <a:solidFill>
            <a:srgbClr val="F4B63E"/>
          </a:solidFill>
          <a:ln w="12700" cap="flat" cmpd="sng">
            <a:solidFill>
              <a:srgbClr val="F4B6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777240" y="1609344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lay"/>
              <a:buNone/>
            </a:pPr>
            <a:r>
              <a:rPr lang="en-US" sz="380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Tony Awards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lay"/>
              <a:buNone/>
            </a:pPr>
            <a:r>
              <a:rPr lang="en-US" sz="3800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Semantic Resource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822960" y="2816352"/>
            <a:ext cx="66751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DBEAFE"/>
                </a:solidFill>
                <a:latin typeface="Arial"/>
                <a:ea typeface="Arial"/>
                <a:cs typeface="Arial"/>
                <a:sym typeface="Arial"/>
              </a:rPr>
              <a:t>Ontología OWL · Knowledge Graph · SHACL · OOPS! · FOOPS! · W3ID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3"/>
          <p:cNvCxnSpPr/>
          <p:nvPr/>
        </p:nvCxnSpPr>
        <p:spPr>
          <a:xfrm>
            <a:off x="822960" y="3310128"/>
            <a:ext cx="4114800" cy="0"/>
          </a:xfrm>
          <a:prstGeom prst="straightConnector1">
            <a:avLst/>
          </a:prstGeom>
          <a:noFill/>
          <a:ln w="25400" cap="flat" cmpd="sng">
            <a:solidFill>
              <a:srgbClr val="F4B63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/>
          <p:nvPr/>
        </p:nvSpPr>
        <p:spPr>
          <a:xfrm>
            <a:off x="8595360" y="135331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63E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4B63E"/>
                </a:solidFill>
                <a:latin typeface="Arial"/>
                <a:ea typeface="Arial"/>
                <a:cs typeface="Arial"/>
                <a:sym typeface="Arial"/>
              </a:rPr>
              <a:t>Grupo 10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595360" y="1783080"/>
            <a:ext cx="301752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Tonybingfeng Lin · 230025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Huangkai Chen · 220238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Diego Armenteros Riaza · 200264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Víctor Taboada · 220084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6071616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Índice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4"/>
          <p:cNvCxnSpPr/>
          <p:nvPr/>
        </p:nvCxnSpPr>
        <p:spPr>
          <a:xfrm>
            <a:off x="1417315" y="2880360"/>
            <a:ext cx="8823900" cy="0"/>
          </a:xfrm>
          <a:prstGeom prst="straightConnector1">
            <a:avLst/>
          </a:prstGeom>
          <a:noFill/>
          <a:ln w="254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"/>
          <p:cNvSpPr/>
          <p:nvPr/>
        </p:nvSpPr>
        <p:spPr>
          <a:xfrm>
            <a:off x="1005835" y="2267712"/>
            <a:ext cx="960000" cy="960000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005835" y="2601456"/>
            <a:ext cx="96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02915" y="3493008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 requisitos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749035" y="2267712"/>
            <a:ext cx="960000" cy="960000"/>
          </a:xfrm>
          <a:prstGeom prst="ellipse">
            <a:avLst/>
          </a:prstGeom>
          <a:solidFill>
            <a:srgbClr val="2A9D8F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748973" y="2601394"/>
            <a:ext cx="96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246115" y="3493008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 dirty="0">
                <a:solidFill>
                  <a:srgbClr val="111827"/>
                </a:solidFill>
              </a:rPr>
              <a:t>Decision de </a:t>
            </a:r>
            <a:r>
              <a:rPr lang="en-US" sz="1500" b="1" dirty="0" err="1">
                <a:solidFill>
                  <a:srgbClr val="111827"/>
                </a:solidFill>
              </a:rPr>
              <a:t>diseño</a:t>
            </a:r>
            <a:r>
              <a:rPr lang="en-US" sz="1500" b="1" dirty="0">
                <a:solidFill>
                  <a:srgbClr val="111827"/>
                </a:solidFill>
              </a:rPr>
              <a:t>, </a:t>
            </a:r>
            <a:r>
              <a:rPr lang="en-US" sz="1500" b="1" dirty="0" err="1">
                <a:solidFill>
                  <a:srgbClr val="111827"/>
                </a:solidFill>
              </a:rPr>
              <a:t>m</a:t>
            </a:r>
            <a:r>
              <a:rPr lang="en-US"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odelo</a:t>
            </a:r>
            <a:r>
              <a:rPr 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conceptual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 dirty="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500" b="1" dirty="0" err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reutilización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92235" y="2267712"/>
            <a:ext cx="960000" cy="960000"/>
          </a:xfrm>
          <a:prstGeom prst="ellipse">
            <a:avLst/>
          </a:prstGeom>
          <a:solidFill>
            <a:srgbClr val="F4B63E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92148" y="2601456"/>
            <a:ext cx="96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89315" y="3493008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OWL, datos RDF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 SHACL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326885" y="2267762"/>
            <a:ext cx="960000" cy="960000"/>
          </a:xfrm>
          <a:prstGeom prst="ellipse">
            <a:avLst/>
          </a:prstGeom>
          <a:solidFill>
            <a:srgbClr val="E63946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326885" y="2601506"/>
            <a:ext cx="96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823915" y="3493008"/>
            <a:ext cx="1965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Evaluación, W3ID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 conclusiones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937760" y="6473952"/>
            <a:ext cx="31089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Tonybingfeng Lin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Objetivo y alcance del recurso semántico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777240" y="1417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77240" y="178308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El dataset original contiene filas tabulares sobre premios, pero no expresa semánticamente quién ganó, por qué obra, en qué categoría ni en qué año.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537960" y="1417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537960" y="178308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Construir una ontología OWL, un Knowledge Graph y shapes SHACL para representar y validar los ganadores de los Tony Awards entre 1982 y 2015.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914400" y="4005072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FEF3C7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914400" y="4142232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B1324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978408" y="442569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Campos originales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p5"/>
          <p:cNvCxnSpPr/>
          <p:nvPr/>
        </p:nvCxnSpPr>
        <p:spPr>
          <a:xfrm>
            <a:off x="2788920" y="4407408"/>
            <a:ext cx="621792" cy="0"/>
          </a:xfrm>
          <a:prstGeom prst="straightConnector1">
            <a:avLst/>
          </a:prstGeom>
          <a:noFill/>
          <a:ln w="19050" cap="flat" cmpd="sng">
            <a:solidFill>
              <a:srgbClr val="0B132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" name="Google Shape;55;p5"/>
          <p:cNvSpPr/>
          <p:nvPr/>
        </p:nvSpPr>
        <p:spPr>
          <a:xfrm>
            <a:off x="3657600" y="4005072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DBEAFE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57600" y="4142232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B1324"/>
                </a:solidFill>
                <a:latin typeface="Arial"/>
                <a:ea typeface="Arial"/>
                <a:cs typeface="Arial"/>
                <a:sym typeface="Arial"/>
              </a:rPr>
              <a:t>OWL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721608" y="442569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Modelo conceptual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5532120" y="4407408"/>
            <a:ext cx="621792" cy="0"/>
          </a:xfrm>
          <a:prstGeom prst="straightConnector1">
            <a:avLst/>
          </a:prstGeom>
          <a:noFill/>
          <a:ln w="19050" cap="flat" cmpd="sng">
            <a:solidFill>
              <a:srgbClr val="0B132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" name="Google Shape;59;p5"/>
          <p:cNvSpPr/>
          <p:nvPr/>
        </p:nvSpPr>
        <p:spPr>
          <a:xfrm>
            <a:off x="6400800" y="4005072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D1FAE5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0" y="4142232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B1324"/>
                </a:solidFill>
                <a:latin typeface="Arial"/>
                <a:ea typeface="Arial"/>
                <a:cs typeface="Arial"/>
                <a:sym typeface="Arial"/>
              </a:rPr>
              <a:t>RDF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464808" y="442569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Datos semánticos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8275320" y="4407408"/>
            <a:ext cx="621792" cy="0"/>
          </a:xfrm>
          <a:prstGeom prst="straightConnector1">
            <a:avLst/>
          </a:prstGeom>
          <a:noFill/>
          <a:ln w="19050" cap="flat" cmpd="sng">
            <a:solidFill>
              <a:srgbClr val="0B132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" name="Google Shape;63;p5"/>
          <p:cNvSpPr/>
          <p:nvPr/>
        </p:nvSpPr>
        <p:spPr>
          <a:xfrm>
            <a:off x="9144000" y="4005072"/>
            <a:ext cx="1874520" cy="804672"/>
          </a:xfrm>
          <a:prstGeom prst="roundRect">
            <a:avLst>
              <a:gd name="adj" fmla="val 11364"/>
            </a:avLst>
          </a:prstGeom>
          <a:solidFill>
            <a:srgbClr val="FEE2E2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44000" y="4142232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B1324"/>
                </a:solidFill>
                <a:latin typeface="Arial"/>
                <a:ea typeface="Arial"/>
                <a:cs typeface="Arial"/>
                <a:sym typeface="Arial"/>
              </a:rPr>
              <a:t>SHACL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208008" y="442569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937760" y="6473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Tonybingfeng Lin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Datos de partida y requisitos ontológicos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85800" y="1490472"/>
            <a:ext cx="4206240" cy="1993392"/>
          </a:xfrm>
          <a:prstGeom prst="roundRect">
            <a:avLst>
              <a:gd name="adj" fmla="val 3670"/>
            </a:avLst>
          </a:prstGeom>
          <a:solidFill>
            <a:srgbClr val="0B1324"/>
          </a:solidFill>
          <a:ln w="12700" cap="flat" cmpd="sng">
            <a:solidFill>
              <a:srgbClr val="3741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850392" y="1627632"/>
            <a:ext cx="3877056" cy="171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Campos del dataset: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• Categoría del premio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• Año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• Nombre del ganador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• Obra premiada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• Categoría de género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532120" y="1435608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Preguntas que debe responder el recurso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623560" y="1984248"/>
            <a:ext cx="82296" cy="82296"/>
          </a:xfrm>
          <a:prstGeom prst="ellipse">
            <a:avLst/>
          </a:prstGeom>
          <a:solidFill>
            <a:srgbClr val="F4B63E"/>
          </a:solidFill>
          <a:ln w="12700" cap="flat" cmpd="sng">
            <a:solidFill>
              <a:srgbClr val="F4B6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788152" y="1901952"/>
            <a:ext cx="53035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¿Quién ganó un premio en un año concreto?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623560" y="2414016"/>
            <a:ext cx="82296" cy="82296"/>
          </a:xfrm>
          <a:prstGeom prst="ellipse">
            <a:avLst/>
          </a:prstGeom>
          <a:solidFill>
            <a:srgbClr val="F4B63E"/>
          </a:solidFill>
          <a:ln w="12700" cap="flat" cmpd="sng">
            <a:solidFill>
              <a:srgbClr val="F4B6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788152" y="2331720"/>
            <a:ext cx="53035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¿Qué obra está asociada a un ganador?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623560" y="2843784"/>
            <a:ext cx="82296" cy="82296"/>
          </a:xfrm>
          <a:prstGeom prst="ellipse">
            <a:avLst/>
          </a:prstGeom>
          <a:solidFill>
            <a:srgbClr val="F4B63E"/>
          </a:solidFill>
          <a:ln w="12700" cap="flat" cmpd="sng">
            <a:solidFill>
              <a:srgbClr val="F4B6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788152" y="2761488"/>
            <a:ext cx="53035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¿Qué categorías existen y cómo se agrupan?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623560" y="3273552"/>
            <a:ext cx="82296" cy="82296"/>
          </a:xfrm>
          <a:prstGeom prst="ellipse">
            <a:avLst/>
          </a:prstGeom>
          <a:solidFill>
            <a:srgbClr val="F4B63E"/>
          </a:solidFill>
          <a:ln w="12700" cap="flat" cmpd="sng">
            <a:solidFill>
              <a:srgbClr val="F4B6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788152" y="3191256"/>
            <a:ext cx="53035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¿Cómo filtrar por género y categoría?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85800" y="4160520"/>
            <a:ext cx="10835640" cy="1097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932688" y="436168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Requisito clave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651760" y="427024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1445"/>
              <a:buFont typeface="Arial"/>
              <a:buNone/>
            </a:pPr>
            <a:r>
              <a:rPr lang="en-US" sz="1445" b="1">
                <a:solidFill>
                  <a:srgbClr val="0B1324"/>
                </a:solidFill>
                <a:latin typeface="Arial"/>
                <a:ea typeface="Arial"/>
                <a:cs typeface="Arial"/>
                <a:sym typeface="Arial"/>
              </a:rPr>
              <a:t>Cada registro debe representar una relación completa: ganador + obra + categoría + año + género.</a:t>
            </a:r>
            <a:endParaRPr sz="144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651760" y="4709160"/>
            <a:ext cx="7680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Este requisito justifica la decisión de diseño central de la ontología.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937760" y="6473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Tonybingfeng Lin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 dirty="0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Modelo conceptual/</a:t>
            </a:r>
            <a:r>
              <a:rPr lang="en-US" sz="2600" b="1" dirty="0" err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Decisión</a:t>
            </a:r>
            <a:r>
              <a:rPr lang="en-US" sz="2600" b="1" dirty="0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 de </a:t>
            </a:r>
            <a:r>
              <a:rPr lang="en-US" sz="2600" b="1" dirty="0" err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diseño</a:t>
            </a:r>
            <a:r>
              <a:rPr lang="en-US" sz="2600" b="1" dirty="0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: </a:t>
            </a:r>
            <a:r>
              <a:rPr lang="en-US" sz="2600" b="1" dirty="0" err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relación</a:t>
            </a:r>
            <a:r>
              <a:rPr lang="en-US" sz="2600" b="1" dirty="0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 n-aria</a:t>
            </a:r>
            <a:endParaRPr sz="2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348274" y="5637325"/>
            <a:ext cx="1741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B1324"/>
                </a:solidFill>
              </a:rPr>
              <a:t>¿</a:t>
            </a:r>
            <a:r>
              <a:rPr lang="en-US" sz="1200" b="1">
                <a:solidFill>
                  <a:srgbClr val="0B1324"/>
                </a:solidFill>
                <a:latin typeface="Arial"/>
                <a:ea typeface="Arial"/>
                <a:cs typeface="Arial"/>
                <a:sym typeface="Arial"/>
              </a:rPr>
              <a:t>Por qué es necesario?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3154680" y="5715000"/>
            <a:ext cx="6675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 premio no es solo “persona → premio”: también depende de obra, categoría, año y género.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937760" y="6473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Huangkai Chen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771E60-0243-6CA6-BC77-C2B0CEF09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074" y="844860"/>
            <a:ext cx="6187137" cy="46255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 dirty="0" err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Recursos</a:t>
            </a:r>
            <a:r>
              <a:rPr lang="en-US" sz="2600" b="1" dirty="0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600" b="1" dirty="0" err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reutilizados</a:t>
            </a:r>
            <a:endParaRPr sz="2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937760" y="6473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Huangkai Chen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4754848-247D-3D20-EA0A-C155A16FF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166" y="2300953"/>
            <a:ext cx="7478097" cy="123809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113150F-4B23-B809-1C23-C76DE319E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737" y="3768404"/>
            <a:ext cx="6857143" cy="1238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502922" y="347475"/>
            <a:ext cx="2810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Implementación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94380" y="4222005"/>
            <a:ext cx="2057400" cy="1051500"/>
          </a:xfrm>
          <a:prstGeom prst="roundRect">
            <a:avLst>
              <a:gd name="adj" fmla="val 13913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94380" y="4350021"/>
            <a:ext cx="2057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00"/>
              <a:buFont typeface="Arial"/>
              <a:buNone/>
            </a:pPr>
            <a:r>
              <a:rPr lang="en-US" sz="25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85820" y="4825509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clases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2971820" y="4222005"/>
            <a:ext cx="2057400" cy="1051500"/>
          </a:xfrm>
          <a:prstGeom prst="roundRect">
            <a:avLst>
              <a:gd name="adj" fmla="val 13913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2971820" y="4350021"/>
            <a:ext cx="2057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500"/>
              <a:buFont typeface="Arial"/>
              <a:buNone/>
            </a:pPr>
            <a:r>
              <a:rPr lang="en-US" sz="250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063260" y="4825509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object properties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349260" y="4222005"/>
            <a:ext cx="2057400" cy="1051500"/>
          </a:xfrm>
          <a:prstGeom prst="roundRect">
            <a:avLst>
              <a:gd name="adj" fmla="val 13913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349260" y="4350021"/>
            <a:ext cx="2057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B63E"/>
              </a:buClr>
              <a:buSzPts val="2500"/>
              <a:buFont typeface="Arial"/>
              <a:buNone/>
            </a:pPr>
            <a:r>
              <a:rPr lang="en-US" sz="2500" b="1">
                <a:solidFill>
                  <a:srgbClr val="F4B63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440700" y="4825509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datatype properties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94375" y="201594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Archivos principales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241100" y="2290153"/>
            <a:ext cx="30486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</a:rPr>
              <a:t>Ejemplos de p</a:t>
            </a:r>
            <a:r>
              <a:rPr lang="en-US" sz="17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ropiedades 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937752" y="6473950"/>
            <a:ext cx="2536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Diego Armenteros Riaza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502925" y="1451988"/>
            <a:ext cx="594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Implementado en OWL y disponible en dos formatos: Turtle y RDF/XML</a:t>
            </a:r>
            <a:endParaRPr/>
          </a:p>
        </p:txBody>
      </p:sp>
      <p:pic>
        <p:nvPicPr>
          <p:cNvPr id="157" name="Google Shape;15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125" y="2456880"/>
            <a:ext cx="14859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594365" y="364734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</a:rPr>
              <a:t>Estructura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8064250" y="2553475"/>
            <a:ext cx="30000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b="1">
                <a:solidFill>
                  <a:schemeClr val="dk1"/>
                </a:solidFill>
              </a:rPr>
              <a:t>winner:</a:t>
            </a:r>
            <a:r>
              <a:rPr lang="en-US" sz="1200">
                <a:solidFill>
                  <a:schemeClr val="dk1"/>
                </a:solidFill>
              </a:rPr>
              <a:t> relaciona AwardWinning con persona ganadora</a:t>
            </a:r>
            <a:endParaRPr sz="1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30" b="1">
                <a:solidFill>
                  <a:srgbClr val="111827"/>
                </a:solidFill>
              </a:rPr>
              <a:t>awardedForWork:</a:t>
            </a:r>
            <a:r>
              <a:rPr lang="en-US" sz="1230">
                <a:solidFill>
                  <a:srgbClr val="111827"/>
                </a:solidFill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relaciona AwardWinning con</a:t>
            </a:r>
            <a:r>
              <a:rPr lang="en-US" sz="1230">
                <a:solidFill>
                  <a:srgbClr val="111827"/>
                </a:solidFill>
              </a:rPr>
              <a:t> la obra</a:t>
            </a:r>
            <a:endParaRPr sz="1230">
              <a:solidFill>
                <a:srgbClr val="111827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solidFill>
                <a:srgbClr val="111827"/>
              </a:solidFill>
            </a:endParaRPr>
          </a:p>
          <a:p>
            <a:pPr marL="457200" lvl="0" indent="-306705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Char char="●"/>
            </a:pPr>
            <a:r>
              <a:rPr lang="en-US" sz="1230" b="1">
                <a:solidFill>
                  <a:srgbClr val="111827"/>
                </a:solidFill>
              </a:rPr>
              <a:t>hasAwardCategory:</a:t>
            </a:r>
            <a:r>
              <a:rPr lang="en-US" sz="1230">
                <a:solidFill>
                  <a:srgbClr val="111827"/>
                </a:solidFill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relaciona AwardWinning</a:t>
            </a:r>
            <a:r>
              <a:rPr lang="en-US" sz="1230">
                <a:solidFill>
                  <a:srgbClr val="111827"/>
                </a:solidFill>
              </a:rPr>
              <a:t> con la categoría</a:t>
            </a:r>
            <a:endParaRPr sz="1230">
              <a:solidFill>
                <a:srgbClr val="111827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solidFill>
                <a:srgbClr val="111827"/>
              </a:solidFill>
            </a:endParaRPr>
          </a:p>
          <a:p>
            <a:pPr marL="457200" lvl="0" indent="-306705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Char char="●"/>
            </a:pPr>
            <a:r>
              <a:rPr lang="en-US" sz="1230" b="1">
                <a:solidFill>
                  <a:srgbClr val="111827"/>
                </a:solidFill>
              </a:rPr>
              <a:t>hasGenderCategory:</a:t>
            </a:r>
            <a:r>
              <a:rPr lang="en-US" sz="1230">
                <a:solidFill>
                  <a:srgbClr val="111827"/>
                </a:solidFill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relaciona AwardWinning</a:t>
            </a:r>
            <a:r>
              <a:rPr lang="en-US" sz="1230">
                <a:solidFill>
                  <a:srgbClr val="111827"/>
                </a:solidFill>
              </a:rPr>
              <a:t> con el género</a:t>
            </a:r>
            <a:endParaRPr sz="1230">
              <a:solidFill>
                <a:srgbClr val="111827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solidFill>
                <a:srgbClr val="111827"/>
              </a:solidFill>
            </a:endParaRPr>
          </a:p>
          <a:p>
            <a:pPr marL="457200" lvl="0" indent="-306705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30"/>
              <a:buChar char="●"/>
            </a:pPr>
            <a:r>
              <a:rPr lang="en-US" sz="1200" b="1">
                <a:solidFill>
                  <a:schemeClr val="dk1"/>
                </a:solidFill>
              </a:rPr>
              <a:t>awardYear:</a:t>
            </a:r>
            <a:r>
              <a:rPr lang="en-US" sz="1200">
                <a:solidFill>
                  <a:schemeClr val="dk1"/>
                </a:solidFill>
              </a:rPr>
              <a:t> relaciona AwardWinning con un año como dato literal.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Knowledge Graph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48640" y="3124795"/>
            <a:ext cx="4206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Cada registro RDF contiene: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48640" y="3581995"/>
            <a:ext cx="1508700" cy="50280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85800" y="3710011"/>
            <a:ext cx="12345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Ganador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02920" y="4148923"/>
            <a:ext cx="16002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foaf:Person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2377440" y="3581995"/>
            <a:ext cx="1508700" cy="50280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2514600" y="3710011"/>
            <a:ext cx="12345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Obra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2331720" y="4148923"/>
            <a:ext cx="16002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schema:CreativeWork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206240" y="3581995"/>
            <a:ext cx="1508700" cy="50280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343400" y="3710011"/>
            <a:ext cx="12345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Categoría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160520" y="4148923"/>
            <a:ext cx="16002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myOnt:AwardCategory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48640" y="4423243"/>
            <a:ext cx="1508700" cy="50280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85800" y="4551259"/>
            <a:ext cx="12345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Género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02920" y="4990171"/>
            <a:ext cx="16002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myOnt:GenderCategory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2377440" y="4423243"/>
            <a:ext cx="1508700" cy="50280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2514600" y="4551259"/>
            <a:ext cx="12345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Año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2331720" y="4990171"/>
            <a:ext cx="16002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xsd:integer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206240" y="4423243"/>
            <a:ext cx="1508700" cy="50280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343400" y="4551259"/>
            <a:ext cx="12345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160520" y="4990171"/>
            <a:ext cx="16002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Consolas"/>
              <a:buNone/>
            </a:pPr>
            <a:r>
              <a:rPr lang="en-US" sz="68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recordIdentifier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937760" y="6473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Diego Armenteros Riaza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470" y="3445467"/>
            <a:ext cx="3695700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/>
          <p:nvPr/>
        </p:nvSpPr>
        <p:spPr>
          <a:xfrm>
            <a:off x="548650" y="185589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Archivo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502925" y="1257663"/>
            <a:ext cx="634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solidFill>
                  <a:schemeClr val="dk1"/>
                </a:solidFill>
              </a:rPr>
              <a:t>Contiene ejemplos RDF alineados con la ontología y las restricciones SHACL</a:t>
            </a:r>
            <a:endParaRPr sz="400">
              <a:solidFill>
                <a:schemeClr val="dk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8E0714-3192-F7E8-864C-399C5C45D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34" y="2267713"/>
            <a:ext cx="2607816" cy="3714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Validación SHACL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777240" y="13258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Tipos de restricciones comprobadas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868680" y="17830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cardinalidad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3154680" y="17830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minCount / maxCount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868680" y="231343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tipo de dato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3154680" y="231343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xsd:string, xsd:integer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868680" y="284378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3154680" y="284378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sh:class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868680" y="337413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rango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3154680" y="337413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minInclusive / maxInclusive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868680" y="390448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valores controlados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154680" y="390448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sh:in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868680" y="44348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closed shapes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3154680" y="443484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propiedades permitidas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11"/>
          <p:cNvCxnSpPr/>
          <p:nvPr/>
        </p:nvCxnSpPr>
        <p:spPr>
          <a:xfrm>
            <a:off x="5806440" y="1417320"/>
            <a:ext cx="0" cy="4206240"/>
          </a:xfrm>
          <a:prstGeom prst="straightConnector1">
            <a:avLst/>
          </a:prstGeom>
          <a:noFill/>
          <a:ln w="152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11"/>
          <p:cNvSpPr/>
          <p:nvPr/>
        </p:nvSpPr>
        <p:spPr>
          <a:xfrm>
            <a:off x="640080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Resultado final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7376895" y="2317995"/>
            <a:ext cx="1828800" cy="1828800"/>
          </a:xfrm>
          <a:prstGeom prst="ellipse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7376895" y="285297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553935" y="4393683"/>
            <a:ext cx="34746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Conforms: True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937760" y="6473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Diego Armenteros Riaza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Evaluación de calidad: OOPS! y FOOPS!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85800" y="135331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E63946"/>
                </a:solidFill>
                <a:latin typeface="Arial"/>
                <a:ea typeface="Arial"/>
                <a:cs typeface="Arial"/>
                <a:sym typeface="Arial"/>
              </a:rPr>
              <a:t>OOPS! antes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85800" y="166420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Pitfalls detectados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804672" y="2121408"/>
            <a:ext cx="82296" cy="82296"/>
          </a:xfrm>
          <a:prstGeom prst="ellipse">
            <a:avLst/>
          </a:prstGeom>
          <a:solidFill>
            <a:srgbClr val="E63946"/>
          </a:solidFill>
          <a:ln w="12700" cap="flat" cmpd="sng">
            <a:solidFill>
              <a:srgbClr val="E639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969264" y="2039112"/>
            <a:ext cx="32004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P04 elementos desconectados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804672" y="2505456"/>
            <a:ext cx="82296" cy="82296"/>
          </a:xfrm>
          <a:prstGeom prst="ellipse">
            <a:avLst/>
          </a:prstGeom>
          <a:solidFill>
            <a:srgbClr val="E63946"/>
          </a:solidFill>
          <a:ln w="12700" cap="flat" cmpd="sng">
            <a:solidFill>
              <a:srgbClr val="E639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969264" y="2423160"/>
            <a:ext cx="32004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P10 falta de disjointness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04672" y="2889504"/>
            <a:ext cx="82296" cy="82296"/>
          </a:xfrm>
          <a:prstGeom prst="ellipse">
            <a:avLst/>
          </a:prstGeom>
          <a:solidFill>
            <a:srgbClr val="E63946"/>
          </a:solidFill>
          <a:ln w="12700" cap="flat" cmpd="sng">
            <a:solidFill>
              <a:srgbClr val="E639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969264" y="2807208"/>
            <a:ext cx="33832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P13 relaciones inversas no declaradas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2"/>
          <p:cNvCxnSpPr/>
          <p:nvPr/>
        </p:nvCxnSpPr>
        <p:spPr>
          <a:xfrm>
            <a:off x="3474720" y="2519265"/>
            <a:ext cx="1005840" cy="0"/>
          </a:xfrm>
          <a:prstGeom prst="straightConnector1">
            <a:avLst/>
          </a:prstGeom>
          <a:noFill/>
          <a:ln w="25400" cap="flat" cmpd="sng">
            <a:solidFill>
              <a:srgbClr val="0B132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4" name="Google Shape;234;p12"/>
          <p:cNvSpPr/>
          <p:nvPr/>
        </p:nvSpPr>
        <p:spPr>
          <a:xfrm>
            <a:off x="4663440" y="135331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Correcciones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754880" y="2121408"/>
            <a:ext cx="82296" cy="82296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919472" y="2039112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axiomas de disjointness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754880" y="2505456"/>
            <a:ext cx="82296" cy="82296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919472" y="2423160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propiedades inversas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4754880" y="2889504"/>
            <a:ext cx="82296" cy="82296"/>
          </a:xfrm>
          <a:prstGeom prst="ellipse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4919472" y="2807208"/>
            <a:ext cx="29260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eliminación de elementos aislados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12"/>
          <p:cNvCxnSpPr/>
          <p:nvPr/>
        </p:nvCxnSpPr>
        <p:spPr>
          <a:xfrm>
            <a:off x="7173375" y="2514600"/>
            <a:ext cx="1005840" cy="0"/>
          </a:xfrm>
          <a:prstGeom prst="straightConnector1">
            <a:avLst/>
          </a:prstGeom>
          <a:noFill/>
          <a:ln w="25400" cap="flat" cmpd="sng">
            <a:solidFill>
              <a:srgbClr val="0B132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2" name="Google Shape;242;p12"/>
          <p:cNvSpPr/>
          <p:nvPr/>
        </p:nvSpPr>
        <p:spPr>
          <a:xfrm>
            <a:off x="8412480" y="135331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8412480" y="1883664"/>
            <a:ext cx="2560320" cy="1078992"/>
          </a:xfrm>
          <a:prstGeom prst="roundRect">
            <a:avLst>
              <a:gd name="adj" fmla="val 10169"/>
            </a:avLst>
          </a:prstGeom>
          <a:solidFill>
            <a:srgbClr val="D1FAE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8412480" y="213055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850"/>
              <a:buFont typeface="Arial"/>
              <a:buNone/>
            </a:pPr>
            <a:r>
              <a:rPr lang="en-US" sz="185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OOPS!</a:t>
            </a:r>
            <a:endParaRPr sz="1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850"/>
              <a:buFont typeface="Arial"/>
              <a:buNone/>
            </a:pPr>
            <a:r>
              <a:rPr lang="en-US" sz="185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0 pitfalls</a:t>
            </a:r>
            <a:endParaRPr sz="1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237744" y="3913632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29768" y="43708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1700"/>
              <a:buFont typeface="Arial"/>
              <a:buNone/>
            </a:pPr>
            <a:r>
              <a:rPr lang="en-US" sz="1700" b="1" dirty="0">
                <a:solidFill>
                  <a:srgbClr val="0B1324"/>
                </a:solidFill>
                <a:latin typeface="Arial"/>
                <a:ea typeface="Arial"/>
                <a:cs typeface="Arial"/>
                <a:sym typeface="Arial"/>
              </a:rPr>
              <a:t>FOOPS!</a:t>
            </a:r>
            <a:endParaRPr sz="17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760220" y="4023360"/>
            <a:ext cx="15087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B63E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F4B63E"/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2094602" y="459028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 dirty="0" err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FAIRness</a:t>
            </a:r>
            <a:r>
              <a:rPr lang="en-US" sz="950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score</a:t>
            </a:r>
            <a:endParaRPr sz="9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4937760" y="6473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Víctor Taboada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8E4FAB-097A-4CFC-FD1D-9DDE41EE2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362" y="3304043"/>
            <a:ext cx="3392254" cy="30327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46F2A2B-85DE-3033-4F77-082BAC80A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298" y="3365966"/>
            <a:ext cx="4814683" cy="22566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Publicación y mapping con Grupo 9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731520" y="13716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W3ID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713232" y="178308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111827"/>
          </a:solidFill>
          <a:ln w="12700" cap="flat" cmpd="sng">
            <a:solidFill>
              <a:srgbClr val="3741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877824" y="1920240"/>
            <a:ext cx="4471416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20"/>
              <a:buFont typeface="Consolas"/>
              <a:buNone/>
            </a:pPr>
            <a:r>
              <a:rPr lang="en-US" sz="9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Ontology URI: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https://w3id.org/doisr/tony-awards/ontology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PR: perma-id/w3id.org #6089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777240" y="320040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1874520" y="32004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36"/>
              <a:buFont typeface="Arial"/>
              <a:buNone/>
            </a:pPr>
            <a:r>
              <a:rPr lang="en-US" sz="1036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Redirección y negociación de contenido solicitadas mediante Pull Request.</a:t>
            </a:r>
            <a:endParaRPr sz="10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13"/>
          <p:cNvCxnSpPr/>
          <p:nvPr/>
        </p:nvCxnSpPr>
        <p:spPr>
          <a:xfrm>
            <a:off x="5989320" y="1325880"/>
            <a:ext cx="0" cy="4434840"/>
          </a:xfrm>
          <a:prstGeom prst="straightConnector1">
            <a:avLst/>
          </a:prstGeom>
          <a:noFill/>
          <a:ln w="152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4" name="Google Shape;264;p13"/>
          <p:cNvSpPr/>
          <p:nvPr/>
        </p:nvSpPr>
        <p:spPr>
          <a:xfrm>
            <a:off x="6446520" y="13716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Mapping conceptual con Grupo 9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6446520" y="1828800"/>
            <a:ext cx="4983480" cy="347472"/>
          </a:xfrm>
          <a:prstGeom prst="rect">
            <a:avLst/>
          </a:prstGeom>
          <a:solidFill>
            <a:srgbClr val="0B1324"/>
          </a:solidFill>
          <a:ln w="12700" cap="flat" cmpd="sng">
            <a:solidFill>
              <a:srgbClr val="0B13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537960" y="1892808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Grupo 10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8028432" y="1892808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Grupo 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9528048" y="1892808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6446520" y="2340864"/>
            <a:ext cx="4983480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537960" y="2404872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60"/>
              <a:buFont typeface="Consolas"/>
              <a:buNone/>
            </a:pPr>
            <a:r>
              <a:rPr lang="en-US" sz="76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foaf:Person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8028432" y="2404872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60"/>
              <a:buFont typeface="Consolas"/>
              <a:buNone/>
            </a:pPr>
            <a:r>
              <a:rPr lang="en-US" sz="76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oscar:Person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9528048" y="240487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70"/>
              <a:buFont typeface="Arial"/>
              <a:buNone/>
            </a:pPr>
            <a:r>
              <a:rPr lang="en-US" sz="7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equivalente</a:t>
            </a:r>
            <a:endParaRPr sz="7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446520" y="2852928"/>
            <a:ext cx="498348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537960" y="2916936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60"/>
              <a:buFont typeface="Consolas"/>
              <a:buNone/>
            </a:pPr>
            <a:r>
              <a:rPr lang="en-US" sz="76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schema:CreativeWork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028432" y="2916936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60"/>
              <a:buFont typeface="Consolas"/>
              <a:buNone/>
            </a:pPr>
            <a:r>
              <a:rPr lang="en-US" sz="76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oscar:Movie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9528048" y="2916936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70"/>
              <a:buFont typeface="Arial"/>
              <a:buNone/>
            </a:pPr>
            <a:r>
              <a:rPr lang="en-US" sz="7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close match</a:t>
            </a:r>
            <a:endParaRPr sz="7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6446520" y="3364992"/>
            <a:ext cx="4983480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537960" y="3429000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60"/>
              <a:buFont typeface="Consolas"/>
              <a:buNone/>
            </a:pPr>
            <a:r>
              <a:rPr lang="en-US" sz="76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myOnt:TonyAward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8028432" y="3429000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60"/>
              <a:buFont typeface="Consolas"/>
              <a:buNone/>
            </a:pPr>
            <a:r>
              <a:rPr lang="en-US" sz="76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oscar:Award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9528048" y="342900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70"/>
              <a:buFont typeface="Arial"/>
              <a:buNone/>
            </a:pPr>
            <a:r>
              <a:rPr lang="en-US" sz="7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equivalente genérico</a:t>
            </a:r>
            <a:endParaRPr sz="7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6446520" y="3877056"/>
            <a:ext cx="498348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537960" y="3941064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60"/>
              <a:buFont typeface="Consolas"/>
              <a:buNone/>
            </a:pPr>
            <a:r>
              <a:rPr lang="en-US" sz="76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myOnt:GenderCategory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8028432" y="3941064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60"/>
              <a:buFont typeface="Consolas"/>
              <a:buNone/>
            </a:pPr>
            <a:r>
              <a:rPr lang="en-US" sz="76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oscar:Gender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9528048" y="3941064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70"/>
              <a:buFont typeface="Arial"/>
              <a:buNone/>
            </a:pPr>
            <a:r>
              <a:rPr lang="en-US" sz="77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normalizar valores</a:t>
            </a:r>
            <a:endParaRPr sz="7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446520" y="48006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40"/>
              <a:buFont typeface="Arial"/>
              <a:buNone/>
            </a:pPr>
            <a:r>
              <a:rPr lang="en-US" sz="114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 adaptación de SHACL no es solo cambiar namespaces: también cambia el target class y las propiedades usadas.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4937760" y="6473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Víctor Taboada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"/>
          <p:cNvSpPr/>
          <p:nvPr/>
        </p:nvSpPr>
        <p:spPr>
          <a:xfrm>
            <a:off x="502920" y="347472"/>
            <a:ext cx="8823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2600"/>
              <a:buFont typeface="Play"/>
              <a:buNone/>
            </a:pPr>
            <a:r>
              <a:rPr lang="en-US" sz="2600" b="1">
                <a:solidFill>
                  <a:srgbClr val="0B1324"/>
                </a:solidFill>
                <a:latin typeface="Play"/>
                <a:ea typeface="Play"/>
                <a:cs typeface="Play"/>
                <a:sym typeface="Play"/>
              </a:rPr>
              <a:t>Conclusiones y entregables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7724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Resultado principal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777240" y="1719072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324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0B1324"/>
                </a:solidFill>
                <a:latin typeface="Arial"/>
                <a:ea typeface="Arial"/>
                <a:cs typeface="Arial"/>
                <a:sym typeface="Arial"/>
              </a:rPr>
              <a:t>Un recurso semántico interoperable para representar registros de ganadores de los Tony Awards.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777240" y="2514600"/>
            <a:ext cx="1143000" cy="292608"/>
          </a:xfrm>
          <a:prstGeom prst="roundRect">
            <a:avLst>
              <a:gd name="adj" fmla="val 46875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777240" y="256946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Ontología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2103120" y="2569464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Consolas"/>
              <a:buNone/>
            </a:pPr>
            <a:r>
              <a:rPr lang="en-US" sz="89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ontology/Ontology.ttl / .owl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777240" y="3044952"/>
            <a:ext cx="1143000" cy="292608"/>
          </a:xfrm>
          <a:prstGeom prst="roundRect">
            <a:avLst>
              <a:gd name="adj" fmla="val 46875"/>
            </a:avLst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777240" y="3099816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 RDF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2103120" y="3099816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Consolas"/>
              <a:buNone/>
            </a:pPr>
            <a:r>
              <a:rPr lang="en-US" sz="89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data/tony_awards_data.ttl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777240" y="3575304"/>
            <a:ext cx="1143000" cy="292608"/>
          </a:xfrm>
          <a:prstGeom prst="roundRect">
            <a:avLst>
              <a:gd name="adj" fmla="val 46875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777240" y="363016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SHACL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2103120" y="363016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Consolas"/>
              <a:buNone/>
            </a:pPr>
            <a:r>
              <a:rPr lang="en-US" sz="89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shacl/shapes.ttl + report.ttl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777240" y="4105656"/>
            <a:ext cx="1143000" cy="292608"/>
          </a:xfrm>
          <a:prstGeom prst="roundRect">
            <a:avLst>
              <a:gd name="adj" fmla="val 46875"/>
            </a:avLst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777240" y="416052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2103120" y="4160520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Consolas"/>
              <a:buNone/>
            </a:pPr>
            <a:r>
              <a:rPr lang="en-US" sz="89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OOPS! 0 pitfalls · FOOPS! 97%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777240" y="4636008"/>
            <a:ext cx="1143000" cy="292608"/>
          </a:xfrm>
          <a:prstGeom prst="roundRect">
            <a:avLst>
              <a:gd name="adj" fmla="val 46875"/>
            </a:avLst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777240" y="469087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Publicación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2103120" y="469087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Consolas"/>
              <a:buNone/>
            </a:pPr>
            <a:r>
              <a:rPr lang="en-US" sz="890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W3ID PR #6089</a:t>
            </a:r>
            <a:endParaRPr sz="8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6446520" y="1417320"/>
            <a:ext cx="4343400" cy="4206240"/>
          </a:xfrm>
          <a:prstGeom prst="roundRect">
            <a:avLst>
              <a:gd name="adj" fmla="val 3478"/>
            </a:avLst>
          </a:prstGeom>
          <a:solidFill>
            <a:srgbClr val="0B1324"/>
          </a:solidFill>
          <a:ln w="12700" cap="flat" cmpd="sng">
            <a:solidFill>
              <a:srgbClr val="0B13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6720840" y="178308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B63E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4B63E"/>
                </a:solidFill>
                <a:latin typeface="Arial"/>
                <a:ea typeface="Arial"/>
                <a:cs typeface="Arial"/>
                <a:sym typeface="Arial"/>
              </a:rPr>
              <a:t>Mejoras futuras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6812280" y="2414016"/>
            <a:ext cx="82296" cy="82296"/>
          </a:xfrm>
          <a:prstGeom prst="ellipse">
            <a:avLst/>
          </a:prstGeom>
          <a:solidFill>
            <a:srgbClr val="F4B63E"/>
          </a:solidFill>
          <a:ln w="12700" cap="flat" cmpd="sng">
            <a:solidFill>
              <a:srgbClr val="F4B6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976872" y="2331720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Materializar todo el CSV en RDF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6812280" y="2871216"/>
            <a:ext cx="82296" cy="82296"/>
          </a:xfrm>
          <a:prstGeom prst="ellipse">
            <a:avLst/>
          </a:prstGeom>
          <a:solidFill>
            <a:srgbClr val="F4B63E"/>
          </a:solidFill>
          <a:ln w="12700" cap="flat" cmpd="sng">
            <a:solidFill>
              <a:srgbClr val="F4B6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976872" y="2788920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Probar shapes adaptadas en el dataset del Grupo 9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6812280" y="3511296"/>
            <a:ext cx="82296" cy="82296"/>
          </a:xfrm>
          <a:prstGeom prst="ellipse">
            <a:avLst/>
          </a:prstGeom>
          <a:solidFill>
            <a:srgbClr val="F4B63E"/>
          </a:solidFill>
          <a:ln w="12700" cap="flat" cmpd="sng">
            <a:solidFill>
              <a:srgbClr val="F4B6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6976872" y="3429000"/>
            <a:ext cx="35661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0"/>
              <a:buFont typeface="Arial"/>
              <a:buNone/>
            </a:pPr>
            <a:r>
              <a:rPr lang="en-US" sz="11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Completar la publicación W3ID cuando el PR se acepte</a:t>
            </a:r>
            <a:endParaRPr sz="11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720840" y="475488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lang="en-US" sz="2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502920" y="647395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Grupo 10 · Tony Awards Semantic Resource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937760" y="6473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Presenta: Víctor Taboada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12/12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1189</Words>
  <Application>Microsoft Office PowerPoint</Application>
  <PresentationFormat>Panorámica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Consolas</vt:lpstr>
      <vt:lpstr>Play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HUANG KAI CHEN</cp:lastModifiedBy>
  <cp:revision>6</cp:revision>
  <dcterms:modified xsi:type="dcterms:W3CDTF">2026-05-22T13:50:32Z</dcterms:modified>
</cp:coreProperties>
</file>